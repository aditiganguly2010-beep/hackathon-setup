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y="6858000" cx="12192000"/>
  <p:notesSz cx="6858000" cy="9144000"/>
  <p:embeddedFontLst>
    <p:embeddedFont>
      <p:font typeface="Urbanist"/>
      <p:regular r:id="rId16"/>
      <p:bold r:id="rId17"/>
      <p:italic r:id="rId18"/>
      <p:boldItalic r:id="rId1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font" Target="fonts/Urbanist-bold.fntdata"/><Relationship Id="rId16" Type="http://schemas.openxmlformats.org/officeDocument/2006/relationships/font" Target="fonts/Urbanist-regular.fntdata"/><Relationship Id="rId5" Type="http://schemas.openxmlformats.org/officeDocument/2006/relationships/notesMaster" Target="notesMasters/notesMaster1.xml"/><Relationship Id="rId19" Type="http://schemas.openxmlformats.org/officeDocument/2006/relationships/font" Target="fonts/Urbanist-boldItalic.fntdata"/><Relationship Id="rId6" Type="http://schemas.openxmlformats.org/officeDocument/2006/relationships/slide" Target="slides/slide1.xml"/><Relationship Id="rId18" Type="http://schemas.openxmlformats.org/officeDocument/2006/relationships/font" Target="fonts/Urbanist-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" name="Google Shape;89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" name="Google Shape;119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" name="Google Shape;135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" name="Google Shape;147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" name="Google Shape;158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" name="Google Shape;166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5" name="Google Shape;175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2" name="Google Shape;182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4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2.png"/><Relationship Id="rId4" Type="http://schemas.openxmlformats.org/officeDocument/2006/relationships/image" Target="../media/image3.png"/><Relationship Id="rId10" Type="http://schemas.openxmlformats.org/officeDocument/2006/relationships/image" Target="../media/image16.png"/><Relationship Id="rId9" Type="http://schemas.openxmlformats.org/officeDocument/2006/relationships/image" Target="../media/image6.png"/><Relationship Id="rId5" Type="http://schemas.openxmlformats.org/officeDocument/2006/relationships/image" Target="../media/image1.png"/><Relationship Id="rId6" Type="http://schemas.openxmlformats.org/officeDocument/2006/relationships/image" Target="../media/image2.png"/><Relationship Id="rId7" Type="http://schemas.openxmlformats.org/officeDocument/2006/relationships/image" Target="../media/image9.png"/><Relationship Id="rId8" Type="http://schemas.openxmlformats.org/officeDocument/2006/relationships/image" Target="../media/image15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2.png"/><Relationship Id="rId4" Type="http://schemas.openxmlformats.org/officeDocument/2006/relationships/image" Target="../media/image14.png"/><Relationship Id="rId5" Type="http://schemas.openxmlformats.org/officeDocument/2006/relationships/image" Target="../media/image5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2.png"/><Relationship Id="rId4" Type="http://schemas.openxmlformats.org/officeDocument/2006/relationships/image" Target="../media/image8.png"/><Relationship Id="rId5" Type="http://schemas.openxmlformats.org/officeDocument/2006/relationships/image" Target="../media/image7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2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2.png"/><Relationship Id="rId4" Type="http://schemas.openxmlformats.org/officeDocument/2006/relationships/image" Target="../media/image13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0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2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293B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84" name="Google Shape;84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3"/>
          <p:cNvSpPr txBox="1"/>
          <p:nvPr/>
        </p:nvSpPr>
        <p:spPr>
          <a:xfrm>
            <a:off x="295275" y="2169914"/>
            <a:ext cx="11601450" cy="1466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250" u="none" cap="none" strike="noStrik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AI-Driven </a:t>
            </a:r>
            <a:r>
              <a:rPr b="1" i="0" lang="en-US" sz="5250" u="none" cap="none" strike="noStrike">
                <a:solidFill>
                  <a:srgbClr val="A3E635"/>
                </a:solidFill>
                <a:latin typeface="Urbanist"/>
                <a:ea typeface="Urbanist"/>
                <a:cs typeface="Urbanist"/>
                <a:sym typeface="Urbanist"/>
              </a:rPr>
              <a:t>Legacy System</a:t>
            </a:r>
            <a:r>
              <a:rPr b="1" i="0" lang="en-US" sz="5250" u="none" cap="none" strike="noStrik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 Health Monitor</a:t>
            </a:r>
            <a:endParaRPr/>
          </a:p>
        </p:txBody>
      </p:sp>
      <p:sp>
        <p:nvSpPr>
          <p:cNvPr id="86" name="Google Shape;86;p13"/>
          <p:cNvSpPr txBox="1"/>
          <p:nvPr/>
        </p:nvSpPr>
        <p:spPr>
          <a:xfrm>
            <a:off x="2286000" y="3827264"/>
            <a:ext cx="7620000" cy="6703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Modernizing IT Application Maintenance with Generative AI &amp; Predictive Observability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293B"/>
        </a:solidFill>
      </p:bgPr>
    </p:bg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4"/>
          <p:cNvSpPr txBox="1"/>
          <p:nvPr/>
        </p:nvSpPr>
        <p:spPr>
          <a:xfrm>
            <a:off x="571500" y="571500"/>
            <a:ext cx="5550693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The </a:t>
            </a:r>
            <a:r>
              <a:rPr b="1" i="0" lang="en-US" sz="3000" u="none" cap="none" strike="noStrike">
                <a:solidFill>
                  <a:srgbClr val="A3E635"/>
                </a:solidFill>
                <a:latin typeface="Urbanist"/>
                <a:ea typeface="Urbanist"/>
                <a:cs typeface="Urbanist"/>
                <a:sym typeface="Urbanist"/>
              </a:rPr>
              <a:t>Legacy</a:t>
            </a:r>
            <a:r>
              <a:rPr b="1" i="0" lang="en-US" sz="3000" u="none" cap="none" strike="noStrik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 Challenge</a:t>
            </a:r>
            <a:endParaRPr/>
          </a:p>
        </p:txBody>
      </p:sp>
      <p:pic>
        <p:nvPicPr>
          <p:cNvPr descr="image.png" id="92" name="Google Shape;92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334125" y="0"/>
            <a:ext cx="5857875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93" name="Google Shape;93;p14"/>
          <p:cNvSpPr txBox="1"/>
          <p:nvPr/>
        </p:nvSpPr>
        <p:spPr>
          <a:xfrm>
            <a:off x="571500" y="2582316"/>
            <a:ext cx="5550693" cy="4095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Manual Analysis Overload</a:t>
            </a:r>
            <a:endParaRPr/>
          </a:p>
        </p:txBody>
      </p:sp>
      <p:sp>
        <p:nvSpPr>
          <p:cNvPr id="94" name="Google Shape;94;p14"/>
          <p:cNvSpPr txBox="1"/>
          <p:nvPr/>
        </p:nvSpPr>
        <p:spPr>
          <a:xfrm>
            <a:off x="571500" y="3182391"/>
            <a:ext cx="5286375" cy="8228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IT application maintenance teams face overwhelming difficulties monitoring legacy system health due to deeply fragmented logs and outdated monitoring tools.</a:t>
            </a:r>
            <a:endParaRPr/>
          </a:p>
        </p:txBody>
      </p:sp>
      <p:sp>
        <p:nvSpPr>
          <p:cNvPr id="95" name="Google Shape;95;p14"/>
          <p:cNvSpPr txBox="1"/>
          <p:nvPr/>
        </p:nvSpPr>
        <p:spPr>
          <a:xfrm>
            <a:off x="571500" y="4148137"/>
            <a:ext cx="5286375" cy="8228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This lack of real-time insight leads to inconsistent detection of system degradation, severely delayed issue resolution, and ultimately, an unacceptable increase in downtime risks.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293B"/>
        </a:solidFill>
      </p:bgPr>
    </p:bg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00" name="Google Shape;100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1" name="Google Shape;101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1824037"/>
            <a:ext cx="3429000" cy="40479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2" name="Google Shape;102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81500" y="1824037"/>
            <a:ext cx="3429000" cy="40479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3" name="Google Shape;103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191500" y="1824037"/>
            <a:ext cx="3429000" cy="40479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4" name="Google Shape;104;p1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57250" y="2205037"/>
            <a:ext cx="666750" cy="666750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15"/>
          <p:cNvSpPr txBox="1"/>
          <p:nvPr/>
        </p:nvSpPr>
        <p:spPr>
          <a:xfrm>
            <a:off x="857250" y="3109912"/>
            <a:ext cx="2840355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Proactive Detection</a:t>
            </a:r>
            <a:endParaRPr/>
          </a:p>
        </p:txBody>
      </p:sp>
      <p:sp>
        <p:nvSpPr>
          <p:cNvPr id="106" name="Google Shape;106;p15"/>
          <p:cNvSpPr txBox="1"/>
          <p:nvPr/>
        </p:nvSpPr>
        <p:spPr>
          <a:xfrm>
            <a:off x="857250" y="3614737"/>
            <a:ext cx="2857500" cy="137145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Achieve highly consistent, AI-driven detection of system degradation by automatically parsing, normalizing, and filtering noise from disparate legacy data streams.</a:t>
            </a:r>
            <a:endParaRPr/>
          </a:p>
        </p:txBody>
      </p:sp>
      <p:pic>
        <p:nvPicPr>
          <p:cNvPr descr="image.png" id="107" name="Google Shape;107;p1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4667250" y="2205037"/>
            <a:ext cx="666750" cy="666750"/>
          </a:xfrm>
          <a:prstGeom prst="rect">
            <a:avLst/>
          </a:prstGeom>
          <a:noFill/>
          <a:ln>
            <a:noFill/>
          </a:ln>
        </p:spPr>
      </p:pic>
      <p:sp>
        <p:nvSpPr>
          <p:cNvPr id="108" name="Google Shape;108;p15"/>
          <p:cNvSpPr txBox="1"/>
          <p:nvPr/>
        </p:nvSpPr>
        <p:spPr>
          <a:xfrm>
            <a:off x="4667250" y="3109912"/>
            <a:ext cx="3000375" cy="72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Accelerated Resolution</a:t>
            </a:r>
            <a:endParaRPr/>
          </a:p>
        </p:txBody>
      </p:sp>
      <p:sp>
        <p:nvSpPr>
          <p:cNvPr id="109" name="Google Shape;109;p15"/>
          <p:cNvSpPr txBox="1"/>
          <p:nvPr/>
        </p:nvSpPr>
        <p:spPr>
          <a:xfrm>
            <a:off x="4667250" y="3976687"/>
            <a:ext cx="2857500" cy="137145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Dramatically reduce issue identification time by shifting from manual log parsing to GenAI-powered natural language summaries and actionable insights.</a:t>
            </a:r>
            <a:endParaRPr/>
          </a:p>
        </p:txBody>
      </p:sp>
      <p:pic>
        <p:nvPicPr>
          <p:cNvPr descr="image.png" id="110" name="Google Shape;110;p1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477250" y="2205037"/>
            <a:ext cx="666750" cy="666750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Google Shape;111;p15"/>
          <p:cNvSpPr txBox="1"/>
          <p:nvPr/>
        </p:nvSpPr>
        <p:spPr>
          <a:xfrm>
            <a:off x="8477250" y="3109912"/>
            <a:ext cx="3000375" cy="72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Operational Reliability</a:t>
            </a:r>
            <a:endParaRPr/>
          </a:p>
        </p:txBody>
      </p:sp>
      <p:sp>
        <p:nvSpPr>
          <p:cNvPr id="112" name="Google Shape;112;p15"/>
          <p:cNvSpPr txBox="1"/>
          <p:nvPr/>
        </p:nvSpPr>
        <p:spPr>
          <a:xfrm>
            <a:off x="8477250" y="3976687"/>
            <a:ext cx="2857500" cy="1097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Enhance overall service stability, ensuring high availability and robust data privacy through zero-PII logging and synthetic testing protocols.</a:t>
            </a:r>
            <a:endParaRPr/>
          </a:p>
        </p:txBody>
      </p:sp>
      <p:pic>
        <p:nvPicPr>
          <p:cNvPr descr="image.png" id="113" name="Google Shape;113;p15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1038225" y="2386012"/>
            <a:ext cx="304800" cy="3048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4" name="Google Shape;114;p15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4867275" y="2386012"/>
            <a:ext cx="266700" cy="3048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5" name="Google Shape;115;p15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8658225" y="2386012"/>
            <a:ext cx="304800" cy="304800"/>
          </a:xfrm>
          <a:prstGeom prst="rect">
            <a:avLst/>
          </a:prstGeom>
          <a:noFill/>
          <a:ln>
            <a:noFill/>
          </a:ln>
        </p:spPr>
      </p:pic>
      <p:sp>
        <p:nvSpPr>
          <p:cNvPr id="116" name="Google Shape;116;p15"/>
          <p:cNvSpPr txBox="1"/>
          <p:nvPr/>
        </p:nvSpPr>
        <p:spPr>
          <a:xfrm>
            <a:off x="571500" y="571500"/>
            <a:ext cx="1160145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Targeted </a:t>
            </a:r>
            <a:r>
              <a:rPr b="1" i="0" lang="en-US" sz="3000" u="none" cap="none" strike="noStrike">
                <a:solidFill>
                  <a:srgbClr val="A3E635"/>
                </a:solidFill>
                <a:latin typeface="Urbanist"/>
                <a:ea typeface="Urbanist"/>
                <a:cs typeface="Urbanist"/>
                <a:sym typeface="Urbanist"/>
              </a:rPr>
              <a:t>Outcomes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293B"/>
        </a:solidFill>
      </p:bgPr>
    </p:bg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21" name="Google Shape;121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2" name="Google Shape;122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34125" y="1943100"/>
            <a:ext cx="5286375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3" name="Google Shape;123;p16"/>
          <p:cNvSpPr txBox="1"/>
          <p:nvPr/>
        </p:nvSpPr>
        <p:spPr>
          <a:xfrm>
            <a:off x="857250" y="1943100"/>
            <a:ext cx="5000625" cy="8228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Interactive Dashboard:</a:t>
            </a:r>
            <a:r>
              <a:rPr b="0" i="0" lang="en-US" sz="135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A centralized web UI aggregating metrics, logs, and historical incident records from across the legacy landscape.</a:t>
            </a:r>
            <a:endParaRPr/>
          </a:p>
        </p:txBody>
      </p:sp>
      <p:sp>
        <p:nvSpPr>
          <p:cNvPr id="124" name="Google Shape;124;p16"/>
          <p:cNvSpPr txBox="1"/>
          <p:nvPr/>
        </p:nvSpPr>
        <p:spPr>
          <a:xfrm>
            <a:off x="857250" y="2956470"/>
            <a:ext cx="5000625" cy="8228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GenAI Synthesis:</a:t>
            </a:r>
            <a:r>
              <a:rPr b="0" i="0" lang="en-US" sz="135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Utilizes advanced LLMs to transform fragmented telemetry into human-readable, natural language system summaries.</a:t>
            </a:r>
            <a:endParaRPr/>
          </a:p>
        </p:txBody>
      </p:sp>
      <p:sp>
        <p:nvSpPr>
          <p:cNvPr id="125" name="Google Shape;125;p16"/>
          <p:cNvSpPr txBox="1"/>
          <p:nvPr/>
        </p:nvSpPr>
        <p:spPr>
          <a:xfrm>
            <a:off x="857250" y="3969841"/>
            <a:ext cx="5000625" cy="8228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Actionable Prioritization:</a:t>
            </a:r>
            <a:r>
              <a:rPr b="0" i="0" lang="en-US" sz="135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Automatically generates and prioritizes maintenance actions (e.g., "Clear cache on Node B") to prevent outages.</a:t>
            </a:r>
            <a:endParaRPr/>
          </a:p>
        </p:txBody>
      </p:sp>
      <p:sp>
        <p:nvSpPr>
          <p:cNvPr id="126" name="Google Shape;126;p16"/>
          <p:cNvSpPr txBox="1"/>
          <p:nvPr/>
        </p:nvSpPr>
        <p:spPr>
          <a:xfrm>
            <a:off x="857250" y="4983212"/>
            <a:ext cx="5000625" cy="5485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Exportable Reporting:</a:t>
            </a:r>
            <a:r>
              <a:rPr b="0" i="0" lang="en-US" sz="135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Seamless creation of compliance and maintenance reports for stakeholder visibility.</a:t>
            </a:r>
            <a:endParaRPr/>
          </a:p>
        </p:txBody>
      </p:sp>
      <p:pic>
        <p:nvPicPr>
          <p:cNvPr descr="image.png" id="127" name="Google Shape;127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43650" y="1952625"/>
            <a:ext cx="5267325" cy="3790950"/>
          </a:xfrm>
          <a:prstGeom prst="rect">
            <a:avLst/>
          </a:prstGeom>
          <a:noFill/>
          <a:ln>
            <a:noFill/>
          </a:ln>
        </p:spPr>
      </p:pic>
      <p:sp>
        <p:nvSpPr>
          <p:cNvPr id="128" name="Google Shape;128;p16"/>
          <p:cNvSpPr txBox="1"/>
          <p:nvPr/>
        </p:nvSpPr>
        <p:spPr>
          <a:xfrm>
            <a:off x="571500" y="1924050"/>
            <a:ext cx="104775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A3E635"/>
                </a:solidFill>
                <a:latin typeface="Urbanist"/>
                <a:ea typeface="Urbanist"/>
                <a:cs typeface="Urbanist"/>
                <a:sym typeface="Urbanist"/>
              </a:rPr>
              <a:t>▹</a:t>
            </a:r>
            <a:endParaRPr/>
          </a:p>
        </p:txBody>
      </p:sp>
      <p:sp>
        <p:nvSpPr>
          <p:cNvPr id="129" name="Google Shape;129;p16"/>
          <p:cNvSpPr txBox="1"/>
          <p:nvPr/>
        </p:nvSpPr>
        <p:spPr>
          <a:xfrm>
            <a:off x="571500" y="2937420"/>
            <a:ext cx="104775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A3E635"/>
                </a:solidFill>
                <a:latin typeface="Urbanist"/>
                <a:ea typeface="Urbanist"/>
                <a:cs typeface="Urbanist"/>
                <a:sym typeface="Urbanist"/>
              </a:rPr>
              <a:t>▹</a:t>
            </a:r>
            <a:endParaRPr/>
          </a:p>
        </p:txBody>
      </p:sp>
      <p:sp>
        <p:nvSpPr>
          <p:cNvPr id="130" name="Google Shape;130;p16"/>
          <p:cNvSpPr txBox="1"/>
          <p:nvPr/>
        </p:nvSpPr>
        <p:spPr>
          <a:xfrm>
            <a:off x="571500" y="3950791"/>
            <a:ext cx="104775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A3E635"/>
                </a:solidFill>
                <a:latin typeface="Urbanist"/>
                <a:ea typeface="Urbanist"/>
                <a:cs typeface="Urbanist"/>
                <a:sym typeface="Urbanist"/>
              </a:rPr>
              <a:t>▹</a:t>
            </a:r>
            <a:endParaRPr/>
          </a:p>
        </p:txBody>
      </p:sp>
      <p:sp>
        <p:nvSpPr>
          <p:cNvPr id="131" name="Google Shape;131;p16"/>
          <p:cNvSpPr txBox="1"/>
          <p:nvPr/>
        </p:nvSpPr>
        <p:spPr>
          <a:xfrm>
            <a:off x="571500" y="4964162"/>
            <a:ext cx="104775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A3E635"/>
                </a:solidFill>
                <a:latin typeface="Urbanist"/>
                <a:ea typeface="Urbanist"/>
                <a:cs typeface="Urbanist"/>
                <a:sym typeface="Urbanist"/>
              </a:rPr>
              <a:t>▹</a:t>
            </a:r>
            <a:endParaRPr/>
          </a:p>
        </p:txBody>
      </p:sp>
      <p:sp>
        <p:nvSpPr>
          <p:cNvPr id="132" name="Google Shape;132;p16"/>
          <p:cNvSpPr txBox="1"/>
          <p:nvPr/>
        </p:nvSpPr>
        <p:spPr>
          <a:xfrm>
            <a:off x="571500" y="571500"/>
            <a:ext cx="1160145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The </a:t>
            </a:r>
            <a:r>
              <a:rPr b="1" i="0" lang="en-US" sz="3000" u="none" cap="none" strike="noStrike">
                <a:solidFill>
                  <a:srgbClr val="A3E635"/>
                </a:solidFill>
                <a:latin typeface="Urbanist"/>
                <a:ea typeface="Urbanist"/>
                <a:cs typeface="Urbanist"/>
                <a:sym typeface="Urbanist"/>
              </a:rPr>
              <a:t>Solution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293B"/>
        </a:solidFill>
      </p:bgPr>
    </p:bg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37" name="Google Shape;137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8" name="Google Shape;138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594669"/>
            <a:ext cx="5286375" cy="250686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9" name="Google Shape;139;p1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34125" y="2594669"/>
            <a:ext cx="5286375" cy="2506860"/>
          </a:xfrm>
          <a:prstGeom prst="rect">
            <a:avLst/>
          </a:prstGeom>
          <a:noFill/>
          <a:ln>
            <a:noFill/>
          </a:ln>
        </p:spPr>
      </p:pic>
      <p:sp>
        <p:nvSpPr>
          <p:cNvPr id="140" name="Google Shape;140;p17"/>
          <p:cNvSpPr txBox="1"/>
          <p:nvPr/>
        </p:nvSpPr>
        <p:spPr>
          <a:xfrm>
            <a:off x="839390" y="2975669"/>
            <a:ext cx="4750593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A3E635"/>
                </a:solidFill>
                <a:latin typeface="Urbanist"/>
                <a:ea typeface="Urbanist"/>
                <a:cs typeface="Urbanist"/>
                <a:sym typeface="Urbanist"/>
              </a:rPr>
              <a:t>1. Data ETL &amp; Storage</a:t>
            </a:r>
            <a:endParaRPr/>
          </a:p>
        </p:txBody>
      </p:sp>
      <p:sp>
        <p:nvSpPr>
          <p:cNvPr id="141" name="Google Shape;141;p17"/>
          <p:cNvSpPr txBox="1"/>
          <p:nvPr/>
        </p:nvSpPr>
        <p:spPr>
          <a:xfrm>
            <a:off x="952500" y="3480494"/>
            <a:ext cx="4524375" cy="1097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Legacy logs and metrics are ingested, normalized via a dedicated Python ETL pipeline (Pandas/Celery), and securely stored in a highly-available </a:t>
            </a:r>
            <a:r>
              <a:rPr b="1" i="0" lang="en-US" sz="135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PostgreSQL</a:t>
            </a:r>
            <a:r>
              <a:rPr b="0" i="0" lang="en-US" sz="135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database using SQLAlchemy ORM for robust data integrity and auditability.</a:t>
            </a:r>
            <a:endParaRPr/>
          </a:p>
        </p:txBody>
      </p:sp>
      <p:sp>
        <p:nvSpPr>
          <p:cNvPr id="142" name="Google Shape;142;p17"/>
          <p:cNvSpPr txBox="1"/>
          <p:nvPr/>
        </p:nvSpPr>
        <p:spPr>
          <a:xfrm>
            <a:off x="6602015" y="2975669"/>
            <a:ext cx="4750593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A3E635"/>
                </a:solidFill>
                <a:latin typeface="Urbanist"/>
                <a:ea typeface="Urbanist"/>
                <a:cs typeface="Urbanist"/>
                <a:sym typeface="Urbanist"/>
              </a:rPr>
              <a:t>2. AI &amp; Orchestration</a:t>
            </a:r>
            <a:endParaRPr/>
          </a:p>
        </p:txBody>
      </p:sp>
      <p:sp>
        <p:nvSpPr>
          <p:cNvPr id="143" name="Google Shape;143;p17"/>
          <p:cNvSpPr txBox="1"/>
          <p:nvPr/>
        </p:nvSpPr>
        <p:spPr>
          <a:xfrm>
            <a:off x="6715125" y="3480494"/>
            <a:ext cx="4524375" cy="1097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Powered by a </a:t>
            </a:r>
            <a:r>
              <a:rPr b="1" i="0" lang="en-US" sz="135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FastAPI</a:t>
            </a:r>
            <a:r>
              <a:rPr b="0" i="0" lang="en-US" sz="135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asynchronous backend, the system leverages </a:t>
            </a:r>
            <a:r>
              <a:rPr b="1" i="0" lang="en-US" sz="135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Google ADK</a:t>
            </a:r>
            <a:r>
              <a:rPr b="0" i="0" lang="en-US" sz="135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to orchestrate LLM agents. Strict JSON schemas, Langfuse observability, and local caching ensure fast, predictable, and traceable AI inferences.</a:t>
            </a:r>
            <a:endParaRPr/>
          </a:p>
        </p:txBody>
      </p:sp>
      <p:sp>
        <p:nvSpPr>
          <p:cNvPr id="144" name="Google Shape;144;p17"/>
          <p:cNvSpPr txBox="1"/>
          <p:nvPr/>
        </p:nvSpPr>
        <p:spPr>
          <a:xfrm>
            <a:off x="571500" y="571500"/>
            <a:ext cx="1160145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System </a:t>
            </a:r>
            <a:r>
              <a:rPr b="1" i="0" lang="en-US" sz="3000" u="none" cap="none" strike="noStrike">
                <a:solidFill>
                  <a:srgbClr val="A3E635"/>
                </a:solidFill>
                <a:latin typeface="Urbanist"/>
                <a:ea typeface="Urbanist"/>
                <a:cs typeface="Urbanist"/>
                <a:sym typeface="Urbanist"/>
              </a:rPr>
              <a:t>Architecture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293B"/>
        </a:solidFill>
      </p:bgPr>
    </p:bg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49" name="Google Shape;149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50" name="Google Shape;150;p18"/>
          <p:cNvSpPr txBox="1"/>
          <p:nvPr/>
        </p:nvSpPr>
        <p:spPr>
          <a:xfrm>
            <a:off x="571500" y="2825055"/>
            <a:ext cx="5286375" cy="15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0" u="none" cap="none" strike="noStrike">
                <a:solidFill>
                  <a:srgbClr val="A3E635"/>
                </a:solidFill>
                <a:latin typeface="Urbanist"/>
                <a:ea typeface="Urbanist"/>
                <a:cs typeface="Urbanist"/>
                <a:sym typeface="Urbanist"/>
              </a:rPr>
              <a:t>30%</a:t>
            </a:r>
            <a:endParaRPr/>
          </a:p>
        </p:txBody>
      </p:sp>
      <p:sp>
        <p:nvSpPr>
          <p:cNvPr id="151" name="Google Shape;151;p18"/>
          <p:cNvSpPr txBox="1"/>
          <p:nvPr/>
        </p:nvSpPr>
        <p:spPr>
          <a:xfrm>
            <a:off x="571500" y="4444305"/>
            <a:ext cx="5286375" cy="4266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995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MTTI Reduction</a:t>
            </a:r>
            <a:endParaRPr/>
          </a:p>
        </p:txBody>
      </p:sp>
      <p:sp>
        <p:nvSpPr>
          <p:cNvPr id="152" name="Google Shape;152;p18"/>
          <p:cNvSpPr txBox="1"/>
          <p:nvPr/>
        </p:nvSpPr>
        <p:spPr>
          <a:xfrm>
            <a:off x="6334125" y="2629941"/>
            <a:ext cx="5550693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Transforming Observability</a:t>
            </a:r>
            <a:endParaRPr/>
          </a:p>
        </p:txBody>
      </p:sp>
      <p:sp>
        <p:nvSpPr>
          <p:cNvPr id="153" name="Google Shape;153;p18"/>
          <p:cNvSpPr txBox="1"/>
          <p:nvPr/>
        </p:nvSpPr>
        <p:spPr>
          <a:xfrm>
            <a:off x="6334125" y="3134766"/>
            <a:ext cx="5286375" cy="8228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By automating the correlation of disparate data sources and instantly highlighting the "Why" behind a metric spike, we empower Site Reliability Engineers (SREs) to skip the manual log-hunting phase.</a:t>
            </a:r>
            <a:endParaRPr/>
          </a:p>
        </p:txBody>
      </p:sp>
      <p:sp>
        <p:nvSpPr>
          <p:cNvPr id="154" name="Google Shape;154;p18"/>
          <p:cNvSpPr txBox="1"/>
          <p:nvPr/>
        </p:nvSpPr>
        <p:spPr>
          <a:xfrm>
            <a:off x="6334125" y="4100512"/>
            <a:ext cx="5286375" cy="8228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This targeted 30% reduction in Mean Time To Identify (MTTI) allows engineering teams to focus purely on rapid remediation and strategic improvements.</a:t>
            </a:r>
            <a:endParaRPr/>
          </a:p>
        </p:txBody>
      </p:sp>
      <p:sp>
        <p:nvSpPr>
          <p:cNvPr id="155" name="Google Shape;155;p18"/>
          <p:cNvSpPr txBox="1"/>
          <p:nvPr/>
        </p:nvSpPr>
        <p:spPr>
          <a:xfrm>
            <a:off x="571500" y="571500"/>
            <a:ext cx="1160145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Value for </a:t>
            </a:r>
            <a:r>
              <a:rPr b="1" i="0" lang="en-US" sz="3000" u="none" cap="none" strike="noStrike">
                <a:solidFill>
                  <a:srgbClr val="A3E635"/>
                </a:solidFill>
                <a:latin typeface="Urbanist"/>
                <a:ea typeface="Urbanist"/>
                <a:cs typeface="Urbanist"/>
                <a:sym typeface="Urbanist"/>
              </a:rPr>
              <a:t>SRE Teams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293B"/>
        </a:solidFill>
      </p:bgPr>
    </p:bg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60" name="Google Shape;160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1" name="Google Shape;161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1409700"/>
            <a:ext cx="11049000" cy="4876800"/>
          </a:xfrm>
          <a:prstGeom prst="rect">
            <a:avLst/>
          </a:prstGeom>
          <a:noFill/>
          <a:ln>
            <a:noFill/>
          </a:ln>
        </p:spPr>
      </p:pic>
      <p:sp>
        <p:nvSpPr>
          <p:cNvPr id="162" name="Google Shape;162;p19"/>
          <p:cNvSpPr txBox="1"/>
          <p:nvPr/>
        </p:nvSpPr>
        <p:spPr>
          <a:xfrm>
            <a:off x="571500" y="5454997"/>
            <a:ext cx="11049000" cy="5485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Against our problem statement baseline, the GenAI anomaly detection model has successfully surpassed the target KPI of 85%, currently operating at a validated </a:t>
            </a:r>
            <a:r>
              <a:rPr b="1" i="0" lang="en-US" sz="135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87.2% accuracy</a:t>
            </a:r>
            <a:r>
              <a:rPr b="0" i="0" lang="en-US" sz="135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with minimal false positives.</a:t>
            </a:r>
            <a:endParaRPr/>
          </a:p>
        </p:txBody>
      </p:sp>
      <p:sp>
        <p:nvSpPr>
          <p:cNvPr id="163" name="Google Shape;163;p19"/>
          <p:cNvSpPr txBox="1"/>
          <p:nvPr/>
        </p:nvSpPr>
        <p:spPr>
          <a:xfrm>
            <a:off x="571500" y="571500"/>
            <a:ext cx="1160145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KPI </a:t>
            </a:r>
            <a:r>
              <a:rPr b="1" i="0" lang="en-US" sz="3000" u="none" cap="none" strike="noStrike">
                <a:solidFill>
                  <a:srgbClr val="A3E635"/>
                </a:solidFill>
                <a:latin typeface="Urbanist"/>
                <a:ea typeface="Urbanist"/>
                <a:cs typeface="Urbanist"/>
                <a:sym typeface="Urbanist"/>
              </a:rPr>
              <a:t>Realization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293B"/>
        </a:solidFill>
      </p:bgPr>
    </p:bg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20"/>
          <p:cNvSpPr txBox="1"/>
          <p:nvPr/>
        </p:nvSpPr>
        <p:spPr>
          <a:xfrm>
            <a:off x="571500" y="571500"/>
            <a:ext cx="5550693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Live </a:t>
            </a:r>
            <a:r>
              <a:rPr b="1" i="0" lang="en-US" sz="3000" u="none" cap="none" strike="noStrike">
                <a:solidFill>
                  <a:srgbClr val="A3E635"/>
                </a:solidFill>
                <a:latin typeface="Urbanist"/>
                <a:ea typeface="Urbanist"/>
                <a:cs typeface="Urbanist"/>
                <a:sym typeface="Urbanist"/>
              </a:rPr>
              <a:t>Demonstration</a:t>
            </a:r>
            <a:endParaRPr/>
          </a:p>
        </p:txBody>
      </p:sp>
      <p:pic>
        <p:nvPicPr>
          <p:cNvPr descr="image.png" id="169" name="Google Shape;169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334125" y="0"/>
            <a:ext cx="5857875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70" name="Google Shape;170;p20"/>
          <p:cNvSpPr txBox="1"/>
          <p:nvPr/>
        </p:nvSpPr>
        <p:spPr>
          <a:xfrm>
            <a:off x="571500" y="2719387"/>
            <a:ext cx="5550693" cy="4095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From Synthetic to Real-Time</a:t>
            </a:r>
            <a:endParaRPr/>
          </a:p>
        </p:txBody>
      </p:sp>
      <p:sp>
        <p:nvSpPr>
          <p:cNvPr id="171" name="Google Shape;171;p20"/>
          <p:cNvSpPr txBox="1"/>
          <p:nvPr/>
        </p:nvSpPr>
        <p:spPr>
          <a:xfrm>
            <a:off x="571500" y="3319462"/>
            <a:ext cx="5286375" cy="5485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We will now transition into the interactive application to walk through a live, simulated degradation event.</a:t>
            </a:r>
            <a:endParaRPr/>
          </a:p>
        </p:txBody>
      </p:sp>
      <p:sp>
        <p:nvSpPr>
          <p:cNvPr id="172" name="Google Shape;172;p20"/>
          <p:cNvSpPr txBox="1"/>
          <p:nvPr/>
        </p:nvSpPr>
        <p:spPr>
          <a:xfrm>
            <a:off x="571500" y="4010917"/>
            <a:ext cx="5286375" cy="8228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Watch as the GenAI Engine automatically detects a memory leak, parses the relevant fragmented logs, and issues a P1 task to the Maintenance Operations Center.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293B"/>
        </a:solidFill>
      </p:bgPr>
    </p:bg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77" name="Google Shape;177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78" name="Google Shape;178;p21"/>
          <p:cNvSpPr txBox="1"/>
          <p:nvPr/>
        </p:nvSpPr>
        <p:spPr>
          <a:xfrm>
            <a:off x="295275" y="2667892"/>
            <a:ext cx="1160145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000" u="none" cap="none" strike="noStrike">
                <a:solidFill>
                  <a:srgbClr val="A3E635"/>
                </a:solidFill>
                <a:latin typeface="Urbanist"/>
                <a:ea typeface="Urbanist"/>
                <a:cs typeface="Urbanist"/>
                <a:sym typeface="Urbanist"/>
              </a:rPr>
              <a:t>Questions?</a:t>
            </a:r>
            <a:endParaRPr/>
          </a:p>
        </p:txBody>
      </p:sp>
      <p:sp>
        <p:nvSpPr>
          <p:cNvPr id="179" name="Google Shape;179;p21"/>
          <p:cNvSpPr txBox="1"/>
          <p:nvPr/>
        </p:nvSpPr>
        <p:spPr>
          <a:xfrm>
            <a:off x="571500" y="3772792"/>
            <a:ext cx="11049000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Thank you for your time.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293B"/>
        </a:solidFill>
      </p:bgPr>
    </p:bg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84" name="Google Shape;184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5" name="Google Shape;185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667125" y="3609826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186" name="Google Shape;186;p22"/>
          <p:cNvSpPr txBox="1"/>
          <p:nvPr/>
        </p:nvSpPr>
        <p:spPr>
          <a:xfrm>
            <a:off x="4762500" y="3603277"/>
            <a:ext cx="3762375" cy="1980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https://flashdba.com/wp-content/uploads/2026/04/data-centre.jpg</a:t>
            </a:r>
            <a:endParaRPr/>
          </a:p>
        </p:txBody>
      </p:sp>
      <p:sp>
        <p:nvSpPr>
          <p:cNvPr id="187" name="Google Shape;187;p22"/>
          <p:cNvSpPr txBox="1"/>
          <p:nvPr/>
        </p:nvSpPr>
        <p:spPr>
          <a:xfrm>
            <a:off x="4762500" y="3848992"/>
            <a:ext cx="3762375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Urbanist"/>
                <a:ea typeface="Urbanist"/>
                <a:cs typeface="Urbanist"/>
                <a:sym typeface="Urbanist"/>
              </a:rPr>
              <a:t>flashdba.com</a:t>
            </a:r>
            <a:endParaRPr/>
          </a:p>
        </p:txBody>
      </p:sp>
      <p:sp>
        <p:nvSpPr>
          <p:cNvPr id="188" name="Google Shape;188;p22"/>
          <p:cNvSpPr txBox="1"/>
          <p:nvPr/>
        </p:nvSpPr>
        <p:spPr>
          <a:xfrm>
            <a:off x="571500" y="571500"/>
            <a:ext cx="1160145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Image Sources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